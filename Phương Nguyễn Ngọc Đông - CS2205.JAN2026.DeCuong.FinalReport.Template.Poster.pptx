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5117750" cx="10691800"/>
  <p:notesSz cx="7099300" cy="10234600"/>
  <p:embeddedFontLst>
    <p:embeddedFont>
      <p:font typeface="Roboto"/>
      <p:regular r:id="rId7"/>
      <p:bold r:id="rId8"/>
      <p:italic r:id="rId9"/>
      <p:boldItalic r:id="rId10"/>
    </p:embeddedFont>
    <p:embeddedFont>
      <p:font typeface="Tahoma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312">
          <p15:clr>
            <a:srgbClr val="000000"/>
          </p15:clr>
        </p15:guide>
        <p15:guide id="2" orient="horz" pos="232">
          <p15:clr>
            <a:srgbClr val="000000"/>
          </p15:clr>
        </p15:guide>
        <p15:guide id="3" orient="horz" pos="8880">
          <p15:clr>
            <a:srgbClr val="000000"/>
          </p15:clr>
        </p15:guide>
        <p15:guide id="4" pos="3366">
          <p15:clr>
            <a:srgbClr val="000000"/>
          </p15:clr>
        </p15:guide>
        <p15:guide id="5" pos="240">
          <p15:clr>
            <a:srgbClr val="000000"/>
          </p15:clr>
        </p15:guide>
        <p15:guide id="6" pos="6506">
          <p15:clr>
            <a:srgbClr val="000000"/>
          </p15:clr>
        </p15:guide>
        <p15:guide id="7" pos="3186">
          <p15:clr>
            <a:srgbClr val="000000"/>
          </p15:clr>
        </p15:guide>
        <p15:guide id="8" pos="3552">
          <p15:clr>
            <a:srgbClr val="000000"/>
          </p15:clr>
        </p15:guide>
        <p15:guide id="9" pos="6318">
          <p15:clr>
            <a:srgbClr val="000000"/>
          </p15:clr>
        </p15:guide>
        <p15:guide id="10" pos="414">
          <p15:clr>
            <a:srgbClr val="000000"/>
          </p15:clr>
        </p15:guide>
      </p15:sldGuideLst>
    </p:ext>
    <p:ext uri="{2D200454-40CA-4A62-9FC3-DE9A4176ACB9}">
      <p15:notesGuideLst>
        <p15:guide id="1" orient="horz" pos="3224">
          <p15:clr>
            <a:srgbClr val="000000"/>
          </p15:clr>
        </p15:guide>
        <p15:guide id="2" pos="2236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312" orient="horz"/>
        <p:guide pos="232" orient="horz"/>
        <p:guide pos="8880" orient="horz"/>
        <p:guide pos="3366"/>
        <p:guide pos="240"/>
        <p:guide pos="6506"/>
        <p:guide pos="3186"/>
        <p:guide pos="3552"/>
        <p:guide pos="6318"/>
        <p:guide pos="414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224" orient="horz"/>
        <p:guide pos="223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Tahoma-regular.fntdata"/><Relationship Id="rId10" Type="http://schemas.openxmlformats.org/officeDocument/2006/relationships/font" Target="fonts/Roboto-boldItalic.fntdata"/><Relationship Id="rId12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anchorCtr="0" anchor="t" bIns="30675" lIns="61375" spcFirstLastPara="1" rIns="61375" wrap="square" tIns="306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97325" y="0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anchorCtr="0" anchor="t" bIns="30675" lIns="61375" spcFirstLastPara="1" rIns="61375" wrap="square" tIns="306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192337" y="773112"/>
            <a:ext cx="2700337" cy="38179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62025" y="4848225"/>
            <a:ext cx="5210175" cy="4643437"/>
          </a:xfrm>
          <a:prstGeom prst="rect">
            <a:avLst/>
          </a:prstGeom>
          <a:noFill/>
          <a:ln>
            <a:noFill/>
          </a:ln>
        </p:spPr>
        <p:txBody>
          <a:bodyPr anchorCtr="0" anchor="t" bIns="30675" lIns="61375" spcFirstLastPara="1" rIns="61375" wrap="square" tIns="306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698037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anchorCtr="0" anchor="b" bIns="30675" lIns="61375" spcFirstLastPara="1" rIns="61375" wrap="square" tIns="306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97325" y="9698037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anchorCtr="0" anchor="b" bIns="30675" lIns="61375" spcFirstLastPara="1" rIns="61375" wrap="square" tIns="30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/>
        </p:nvSpPr>
        <p:spPr>
          <a:xfrm>
            <a:off x="3997325" y="9698037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anchorCtr="0" anchor="b" bIns="30675" lIns="61375" spcFirstLastPara="1" rIns="61375" wrap="square" tIns="30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2192337" y="773112"/>
            <a:ext cx="2700337" cy="38179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962025" y="4848225"/>
            <a:ext cx="5210175" cy="4643437"/>
          </a:xfrm>
          <a:prstGeom prst="rect">
            <a:avLst/>
          </a:prstGeom>
          <a:noFill/>
          <a:ln>
            <a:noFill/>
          </a:ln>
        </p:spPr>
        <p:txBody>
          <a:bodyPr anchorCtr="0" anchor="t" bIns="30675" lIns="61375" spcFirstLastPara="1" rIns="61375" wrap="square" tIns="30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 txBox="1"/>
          <p:nvPr>
            <p:ph type="ctrTitle"/>
          </p:nvPr>
        </p:nvSpPr>
        <p:spPr>
          <a:xfrm>
            <a:off x="801688" y="4695825"/>
            <a:ext cx="9088437" cy="324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147425" spcFirstLastPara="1" rIns="147425" wrap="square" tIns="73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"/>
          <p:cNvSpPr txBox="1"/>
          <p:nvPr>
            <p:ph idx="1" type="subTitle"/>
          </p:nvPr>
        </p:nvSpPr>
        <p:spPr>
          <a:xfrm>
            <a:off x="1603375" y="8566150"/>
            <a:ext cx="7485063" cy="386397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ctr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Times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Times"/>
              <a:buNone/>
              <a:defRPr/>
            </a:lvl2pPr>
            <a:lvl3pPr lvl="2" algn="ctr"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Times"/>
              <a:buNone/>
              <a:defRPr/>
            </a:lvl3pPr>
            <a:lvl4pPr lvl="3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4pPr>
            <a:lvl5pPr lvl="4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5pPr>
            <a:lvl6pPr lvl="5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6pPr>
            <a:lvl7pPr lvl="6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7pPr>
            <a:lvl8pPr lvl="7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8pPr>
            <a:lvl9pPr lvl="8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 rot="5400000">
            <a:off x="2720182" y="6244432"/>
            <a:ext cx="12068175" cy="227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147425" spcFirstLastPara="1" rIns="147425" wrap="square" tIns="73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body"/>
          </p:nvPr>
        </p:nvSpPr>
        <p:spPr>
          <a:xfrm rot="5400000">
            <a:off x="-1901824" y="4046538"/>
            <a:ext cx="12068175" cy="6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01687" y="1346200"/>
            <a:ext cx="9088437" cy="251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147425" spcFirstLastPara="1" rIns="147425" wrap="square" tIns="73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 rot="5400000">
            <a:off x="807243" y="4334669"/>
            <a:ext cx="9070975" cy="9088437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type="title"/>
          </p:nvPr>
        </p:nvSpPr>
        <p:spPr>
          <a:xfrm>
            <a:off x="2095500" y="10582275"/>
            <a:ext cx="6415088" cy="1249363"/>
          </a:xfrm>
          <a:prstGeom prst="rect">
            <a:avLst/>
          </a:prstGeom>
          <a:noFill/>
          <a:ln>
            <a:noFill/>
          </a:ln>
        </p:spPr>
        <p:txBody>
          <a:bodyPr anchorCtr="0" anchor="b" bIns="73700" lIns="147425" spcFirstLastPara="1" rIns="147425" wrap="square" tIns="73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/>
          <p:nvPr>
            <p:ph idx="2" type="pic"/>
          </p:nvPr>
        </p:nvSpPr>
        <p:spPr>
          <a:xfrm>
            <a:off x="2095500" y="1350963"/>
            <a:ext cx="6415088" cy="9070975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2095500" y="11831638"/>
            <a:ext cx="6415088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9pPr>
          </a:lstStyle>
          <a:p/>
        </p:txBody>
      </p:sp>
      <p:sp>
        <p:nvSpPr>
          <p:cNvPr id="47" name="Google Shape;47;p5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/>
          <p:nvPr>
            <p:ph type="title"/>
          </p:nvPr>
        </p:nvSpPr>
        <p:spPr>
          <a:xfrm>
            <a:off x="534988" y="601663"/>
            <a:ext cx="3517900" cy="2562225"/>
          </a:xfrm>
          <a:prstGeom prst="rect">
            <a:avLst/>
          </a:prstGeom>
          <a:noFill/>
          <a:ln>
            <a:noFill/>
          </a:ln>
        </p:spPr>
        <p:txBody>
          <a:bodyPr anchorCtr="0" anchor="b" bIns="73700" lIns="147425" spcFirstLastPara="1" rIns="147425" wrap="square" tIns="73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" type="body"/>
          </p:nvPr>
        </p:nvSpPr>
        <p:spPr>
          <a:xfrm>
            <a:off x="4179888" y="601663"/>
            <a:ext cx="5976937" cy="129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9pPr>
          </a:lstStyle>
          <a:p/>
        </p:txBody>
      </p:sp>
      <p:sp>
        <p:nvSpPr>
          <p:cNvPr id="53" name="Google Shape;53;p6"/>
          <p:cNvSpPr txBox="1"/>
          <p:nvPr>
            <p:ph idx="2" type="body"/>
          </p:nvPr>
        </p:nvSpPr>
        <p:spPr>
          <a:xfrm>
            <a:off x="534988" y="3163888"/>
            <a:ext cx="3517900" cy="1034097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801687" y="1346200"/>
            <a:ext cx="9088437" cy="251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147425" spcFirstLastPara="1" rIns="147425" wrap="square" tIns="73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534988" y="604838"/>
            <a:ext cx="9621837" cy="2520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147425" spcFirstLastPara="1" rIns="147425" wrap="square" tIns="73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534988" y="3384550"/>
            <a:ext cx="47244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73700" lIns="147425" spcFirstLastPara="1" rIns="147425" wrap="square" tIns="73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9pPr>
          </a:lstStyle>
          <a:p/>
        </p:txBody>
      </p:sp>
      <p:sp>
        <p:nvSpPr>
          <p:cNvPr id="69" name="Google Shape;69;p9"/>
          <p:cNvSpPr txBox="1"/>
          <p:nvPr>
            <p:ph idx="2" type="body"/>
          </p:nvPr>
        </p:nvSpPr>
        <p:spPr>
          <a:xfrm>
            <a:off x="534988" y="4794250"/>
            <a:ext cx="4724400" cy="8710613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9pPr>
          </a:lstStyle>
          <a:p/>
        </p:txBody>
      </p:sp>
      <p:sp>
        <p:nvSpPr>
          <p:cNvPr id="70" name="Google Shape;70;p9"/>
          <p:cNvSpPr txBox="1"/>
          <p:nvPr>
            <p:ph idx="3" type="body"/>
          </p:nvPr>
        </p:nvSpPr>
        <p:spPr>
          <a:xfrm>
            <a:off x="5430838" y="3384550"/>
            <a:ext cx="4725987" cy="14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73700" lIns="147425" spcFirstLastPara="1" rIns="147425" wrap="square" tIns="73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9pPr>
          </a:lstStyle>
          <a:p/>
        </p:txBody>
      </p:sp>
      <p:sp>
        <p:nvSpPr>
          <p:cNvPr id="71" name="Google Shape;71;p9"/>
          <p:cNvSpPr txBox="1"/>
          <p:nvPr>
            <p:ph idx="4" type="body"/>
          </p:nvPr>
        </p:nvSpPr>
        <p:spPr>
          <a:xfrm>
            <a:off x="5430838" y="4794250"/>
            <a:ext cx="4725987" cy="8710613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9pPr>
          </a:lstStyle>
          <a:p/>
        </p:txBody>
      </p:sp>
      <p:sp>
        <p:nvSpPr>
          <p:cNvPr id="72" name="Google Shape;72;p9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801687" y="1346200"/>
            <a:ext cx="9088437" cy="251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147425" spcFirstLastPara="1" rIns="147425" wrap="square" tIns="73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" type="body"/>
          </p:nvPr>
        </p:nvSpPr>
        <p:spPr>
          <a:xfrm>
            <a:off x="798513" y="4343400"/>
            <a:ext cx="4467225" cy="90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9pPr>
          </a:lstStyle>
          <a:p/>
        </p:txBody>
      </p:sp>
      <p:sp>
        <p:nvSpPr>
          <p:cNvPr id="78" name="Google Shape;78;p10"/>
          <p:cNvSpPr txBox="1"/>
          <p:nvPr>
            <p:ph idx="2" type="body"/>
          </p:nvPr>
        </p:nvSpPr>
        <p:spPr>
          <a:xfrm>
            <a:off x="5418138" y="4343400"/>
            <a:ext cx="4468812" cy="90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9pPr>
          </a:lstStyle>
          <a:p/>
        </p:txBody>
      </p:sp>
      <p:sp>
        <p:nvSpPr>
          <p:cNvPr id="79" name="Google Shape;79;p10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844550" y="9713913"/>
            <a:ext cx="9088438" cy="3003550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844550" y="6407150"/>
            <a:ext cx="9088438" cy="3306763"/>
          </a:xfrm>
          <a:prstGeom prst="rect">
            <a:avLst/>
          </a:prstGeom>
          <a:noFill/>
          <a:ln>
            <a:noFill/>
          </a:ln>
        </p:spPr>
        <p:txBody>
          <a:bodyPr anchorCtr="0" anchor="b" bIns="73700" lIns="147425" spcFirstLastPara="1" rIns="147425" wrap="square" tIns="73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9pPr>
          </a:lstStyle>
          <a:p/>
        </p:txBody>
      </p:sp>
      <p:sp>
        <p:nvSpPr>
          <p:cNvPr id="85" name="Google Shape;85;p11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type="title"/>
          </p:nvPr>
        </p:nvSpPr>
        <p:spPr>
          <a:xfrm>
            <a:off x="801687" y="1346200"/>
            <a:ext cx="9088437" cy="251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147425" spcFirstLastPara="1" rIns="147425" wrap="square" tIns="73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" type="body"/>
          </p:nvPr>
        </p:nvSpPr>
        <p:spPr>
          <a:xfrm>
            <a:off x="798512" y="4343400"/>
            <a:ext cx="9088437" cy="90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360362" y="4019550"/>
            <a:ext cx="9967912" cy="100774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358775" y="368300"/>
            <a:ext cx="9969500" cy="2044700"/>
            <a:chOff x="226" y="232"/>
            <a:chExt cx="6280" cy="1288"/>
          </a:xfrm>
        </p:grpSpPr>
        <p:sp>
          <p:nvSpPr>
            <p:cNvPr id="12" name="Google Shape;12;p1"/>
            <p:cNvSpPr txBox="1"/>
            <p:nvPr/>
          </p:nvSpPr>
          <p:spPr>
            <a:xfrm>
              <a:off x="271" y="273"/>
              <a:ext cx="6189" cy="124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id="13" name="Google Shape;13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226" y="232"/>
              <a:ext cx="6280" cy="12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" name="Google Shape;14;p1"/>
          <p:cNvSpPr txBox="1"/>
          <p:nvPr/>
        </p:nvSpPr>
        <p:spPr>
          <a:xfrm>
            <a:off x="360362" y="14243050"/>
            <a:ext cx="9967912" cy="539750"/>
          </a:xfrm>
          <a:prstGeom prst="rect">
            <a:avLst/>
          </a:prstGeom>
          <a:solidFill>
            <a:srgbClr val="2EAE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7225" y="14355762"/>
            <a:ext cx="525462" cy="34766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5629275" y="2936875"/>
            <a:ext cx="4408487" cy="1979612"/>
          </a:xfrm>
          <a:prstGeom prst="roundRect">
            <a:avLst>
              <a:gd fmla="val 16667" name="adj"/>
            </a:avLst>
          </a:prstGeom>
          <a:solidFill>
            <a:srgbClr val="D1F3F3"/>
          </a:solidFill>
          <a:ln cap="flat" cmpd="sng" w="19050">
            <a:solidFill>
              <a:srgbClr val="0073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932612" y="2651125"/>
            <a:ext cx="1800225" cy="4318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73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57225" y="2936875"/>
            <a:ext cx="4408487" cy="1979612"/>
          </a:xfrm>
          <a:prstGeom prst="roundRect">
            <a:avLst>
              <a:gd fmla="val 16667" name="adj"/>
            </a:avLst>
          </a:prstGeom>
          <a:solidFill>
            <a:srgbClr val="D1F3F3"/>
          </a:solidFill>
          <a:ln cap="flat" cmpd="sng" w="19050">
            <a:solidFill>
              <a:srgbClr val="0073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960562" y="2651125"/>
            <a:ext cx="1800225" cy="4318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73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" name="Google Shape;20;p1"/>
          <p:cNvSpPr txBox="1"/>
          <p:nvPr>
            <p:ph type="title"/>
          </p:nvPr>
        </p:nvSpPr>
        <p:spPr>
          <a:xfrm>
            <a:off x="801687" y="1346200"/>
            <a:ext cx="9088437" cy="251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147425" spcFirstLastPara="1" rIns="147425" wrap="square" tIns="73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21" name="Google Shape;21;p1"/>
          <p:cNvSpPr txBox="1"/>
          <p:nvPr>
            <p:ph idx="1" type="body"/>
          </p:nvPr>
        </p:nvSpPr>
        <p:spPr>
          <a:xfrm>
            <a:off x="798512" y="4343400"/>
            <a:ext cx="9088437" cy="90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558800" lvl="0" marL="457200" marR="0" rtl="0" algn="l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Times"/>
              <a:buChar char="•"/>
              <a:defRPr b="0" i="0" sz="5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514350" lvl="1" marL="9144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Times"/>
              <a:buChar char="–"/>
              <a:defRPr b="0" i="0" sz="4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-476250" lvl="2" marL="1371600" marR="0" rtl="0" algn="l"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Times"/>
              <a:buChar char="•"/>
              <a:defRPr b="0" i="0" sz="39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-431800" lvl="3" marL="18288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–"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-431800" lvl="4" marL="22860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»"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-431800" lvl="5" marL="2743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»"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-431800" lvl="6" marL="32004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»"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-431800" lvl="7" marL="3657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»"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-431800" lvl="8" marL="41148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»"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.png"/><Relationship Id="rId11" Type="http://schemas.openxmlformats.org/officeDocument/2006/relationships/image" Target="../media/image6.png"/><Relationship Id="rId10" Type="http://schemas.openxmlformats.org/officeDocument/2006/relationships/image" Target="../media/image21.png"/><Relationship Id="rId21" Type="http://schemas.openxmlformats.org/officeDocument/2006/relationships/image" Target="../media/image20.png"/><Relationship Id="rId13" Type="http://schemas.openxmlformats.org/officeDocument/2006/relationships/image" Target="../media/image4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9.png"/><Relationship Id="rId15" Type="http://schemas.openxmlformats.org/officeDocument/2006/relationships/image" Target="../media/image8.png"/><Relationship Id="rId14" Type="http://schemas.openxmlformats.org/officeDocument/2006/relationships/image" Target="../media/image14.png"/><Relationship Id="rId17" Type="http://schemas.openxmlformats.org/officeDocument/2006/relationships/image" Target="../media/image15.png"/><Relationship Id="rId16" Type="http://schemas.openxmlformats.org/officeDocument/2006/relationships/image" Target="../media/image3.png"/><Relationship Id="rId5" Type="http://schemas.openxmlformats.org/officeDocument/2006/relationships/image" Target="../media/image5.png"/><Relationship Id="rId19" Type="http://schemas.openxmlformats.org/officeDocument/2006/relationships/image" Target="../media/image9.png"/><Relationship Id="rId6" Type="http://schemas.openxmlformats.org/officeDocument/2006/relationships/image" Target="../media/image17.png"/><Relationship Id="rId18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/>
        </p:nvSpPr>
        <p:spPr>
          <a:xfrm>
            <a:off x="7402512" y="6205537"/>
            <a:ext cx="2362200" cy="1447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00" name="Google Shape;100;p13"/>
          <p:cNvCxnSpPr/>
          <p:nvPr/>
        </p:nvCxnSpPr>
        <p:spPr>
          <a:xfrm>
            <a:off x="773112" y="5848350"/>
            <a:ext cx="9067800" cy="158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oval"/>
            <a:tailEnd len="med" w="med" type="oval"/>
          </a:ln>
        </p:spPr>
      </p:cxnSp>
      <p:grpSp>
        <p:nvGrpSpPr>
          <p:cNvPr id="101" name="Google Shape;101;p13"/>
          <p:cNvGrpSpPr/>
          <p:nvPr/>
        </p:nvGrpSpPr>
        <p:grpSpPr>
          <a:xfrm>
            <a:off x="620712" y="8396287"/>
            <a:ext cx="9448800" cy="365125"/>
            <a:chOff x="620713" y="8243888"/>
            <a:chExt cx="9448800" cy="365125"/>
          </a:xfrm>
        </p:grpSpPr>
        <p:pic>
          <p:nvPicPr>
            <p:cNvPr id="102" name="Google Shape;102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8813" y="8243888"/>
              <a:ext cx="9371012" cy="365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3"/>
            <p:cNvSpPr txBox="1"/>
            <p:nvPr/>
          </p:nvSpPr>
          <p:spPr>
            <a:xfrm>
              <a:off x="620713" y="8304213"/>
              <a:ext cx="9448800" cy="2460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Description</a:t>
              </a:r>
              <a:endParaRPr/>
            </a:p>
          </p:txBody>
        </p:sp>
      </p:grpSp>
      <p:sp>
        <p:nvSpPr>
          <p:cNvPr id="104" name="Google Shape;104;p13"/>
          <p:cNvSpPr txBox="1"/>
          <p:nvPr>
            <p:ph type="ctrTitle"/>
          </p:nvPr>
        </p:nvSpPr>
        <p:spPr>
          <a:xfrm>
            <a:off x="393700" y="623887"/>
            <a:ext cx="9906000" cy="6156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SENTIMENT ANALYSIS AND ANOMALY DETECTION ON VIETNAMESE F&amp;B REVIEW DATA VIA FINE-TUNING PHOBERT AND ISOLATION FOREST</a:t>
            </a:r>
            <a:endParaRPr sz="6200"/>
          </a:p>
        </p:txBody>
      </p:sp>
      <p:pic>
        <p:nvPicPr>
          <p:cNvPr id="105" name="Google Shape;10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812" y="5257800"/>
            <a:ext cx="9371012" cy="36353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3"/>
          <p:cNvSpPr txBox="1"/>
          <p:nvPr/>
        </p:nvSpPr>
        <p:spPr>
          <a:xfrm>
            <a:off x="620712" y="5318125"/>
            <a:ext cx="9448800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2089150" y="2720975"/>
            <a:ext cx="15240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8195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rgbClr val="098195"/>
                </a:solidFill>
                <a:latin typeface="Tahoma"/>
                <a:ea typeface="Tahoma"/>
                <a:cs typeface="Tahoma"/>
                <a:sym typeface="Tahoma"/>
              </a:rPr>
              <a:t>What ?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7051675" y="2720975"/>
            <a:ext cx="15240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8195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rgbClr val="098195"/>
                </a:solidFill>
                <a:latin typeface="Tahoma"/>
                <a:ea typeface="Tahoma"/>
                <a:cs typeface="Tahoma"/>
                <a:sym typeface="Tahoma"/>
              </a:rPr>
              <a:t>Why ?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3454200" y="1363100"/>
            <a:ext cx="370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</a:rPr>
              <a:t>Nguyễn Ngọc Đông Phương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2734941" y="1806225"/>
            <a:ext cx="5144100" cy="1848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spAutoFit/>
          </a:bodyPr>
          <a:lstStyle/>
          <a:p>
            <a:pPr indent="-342900" lvl="0" marL="34290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lt1"/>
                </a:solidFill>
              </a:rPr>
              <a:t>University of Information Technology, VNUHCM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319212" y="14324012"/>
            <a:ext cx="89043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</a:pPr>
            <a:r>
              <a:rPr b="1" i="0" lang="en-US" sz="13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en-US" sz="1300">
                <a:solidFill>
                  <a:schemeClr val="lt1"/>
                </a:solidFill>
              </a:rPr>
              <a:t>Nguyễn Ngọc Đông Phương </a:t>
            </a:r>
            <a:r>
              <a:rPr b="1" i="0" lang="en-US" sz="1300" u="non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–</a:t>
            </a:r>
            <a:r>
              <a:rPr b="1" i="0" lang="en-US" sz="13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Trường Đại học C</a:t>
            </a:r>
            <a:r>
              <a:rPr b="1" lang="en-US" sz="1300">
                <a:solidFill>
                  <a:schemeClr val="lt1"/>
                </a:solidFill>
              </a:rPr>
              <a:t>ông Nghệ Thông Tin</a:t>
            </a:r>
            <a:endParaRPr/>
          </a:p>
          <a:p>
            <a:pPr indent="0" lvl="0" marL="0" marR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TEL : </a:t>
            </a:r>
            <a:r>
              <a:rPr b="1" lang="en-US" sz="1200">
                <a:solidFill>
                  <a:schemeClr val="lt1"/>
                </a:solidFill>
              </a:rPr>
              <a:t>0962306647</a:t>
            </a:r>
            <a:r>
              <a:rPr b="1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Email : </a:t>
            </a:r>
            <a:r>
              <a:rPr b="1" lang="en-US" sz="1200">
                <a:solidFill>
                  <a:schemeClr val="lt1"/>
                </a:solidFill>
              </a:rPr>
              <a:t>phuongdong2262@gmail.com</a:t>
            </a:r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1196974" y="5668962"/>
            <a:ext cx="2166938" cy="354012"/>
            <a:chOff x="1313655" y="5809456"/>
            <a:chExt cx="2166939" cy="354013"/>
          </a:xfrm>
        </p:grpSpPr>
        <p:sp>
          <p:nvSpPr>
            <p:cNvPr id="113" name="Google Shape;113;p13"/>
            <p:cNvSpPr/>
            <p:nvPr/>
          </p:nvSpPr>
          <p:spPr>
            <a:xfrm>
              <a:off x="1313656" y="5809456"/>
              <a:ext cx="2166938" cy="354013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9525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kx="-1200000" rotWithShape="0" algn="bl" sy="23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"/>
                <a:buNone/>
              </a:pPr>
              <a:r>
                <a:t/>
              </a:r>
              <a:endParaRPr b="1" i="0" sz="2400" u="none" cap="none" strike="noStrik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3"/>
            <p:cNvSpPr txBox="1"/>
            <p:nvPr/>
          </p:nvSpPr>
          <p:spPr>
            <a:xfrm>
              <a:off x="1313655" y="5836444"/>
              <a:ext cx="20907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lt1"/>
                  </a:solidFill>
                </a:rPr>
                <a:t>Data Collection &amp; Sentiment</a:t>
              </a:r>
              <a:endParaRPr/>
            </a:p>
          </p:txBody>
        </p:sp>
      </p:grpSp>
      <p:grpSp>
        <p:nvGrpSpPr>
          <p:cNvPr id="115" name="Google Shape;115;p13"/>
          <p:cNvGrpSpPr/>
          <p:nvPr/>
        </p:nvGrpSpPr>
        <p:grpSpPr>
          <a:xfrm>
            <a:off x="4430712" y="5662612"/>
            <a:ext cx="2209800" cy="355600"/>
            <a:chOff x="4355306" y="5806281"/>
            <a:chExt cx="2209800" cy="354013"/>
          </a:xfrm>
        </p:grpSpPr>
        <p:sp>
          <p:nvSpPr>
            <p:cNvPr id="116" name="Google Shape;116;p13"/>
            <p:cNvSpPr/>
            <p:nvPr/>
          </p:nvSpPr>
          <p:spPr>
            <a:xfrm>
              <a:off x="4355306" y="5806281"/>
              <a:ext cx="2209800" cy="354013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9525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kx="-1200000" rotWithShape="0" algn="bl" sy="23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"/>
                <a:buNone/>
              </a:pPr>
              <a:r>
                <a:t/>
              </a:r>
              <a:endParaRPr b="1" i="0" sz="2400" u="none" cap="none" strike="noStrik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3"/>
            <p:cNvSpPr txBox="1"/>
            <p:nvPr/>
          </p:nvSpPr>
          <p:spPr>
            <a:xfrm>
              <a:off x="4464844" y="5833269"/>
              <a:ext cx="2024100" cy="27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lt1"/>
                  </a:solidFill>
                </a:rPr>
                <a:t>Feature Engineering</a:t>
              </a:r>
              <a:endParaRPr/>
            </a:p>
          </p:txBody>
        </p:sp>
      </p:grpSp>
      <p:grpSp>
        <p:nvGrpSpPr>
          <p:cNvPr id="118" name="Google Shape;118;p13"/>
          <p:cNvGrpSpPr/>
          <p:nvPr/>
        </p:nvGrpSpPr>
        <p:grpSpPr>
          <a:xfrm>
            <a:off x="7478712" y="5653087"/>
            <a:ext cx="2209800" cy="355600"/>
            <a:chOff x="4355306" y="5806281"/>
            <a:chExt cx="2209800" cy="354013"/>
          </a:xfrm>
        </p:grpSpPr>
        <p:sp>
          <p:nvSpPr>
            <p:cNvPr id="119" name="Google Shape;119;p13"/>
            <p:cNvSpPr/>
            <p:nvPr/>
          </p:nvSpPr>
          <p:spPr>
            <a:xfrm>
              <a:off x="4355306" y="5806281"/>
              <a:ext cx="2209800" cy="354013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9525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kx="-1200000" rotWithShape="0" algn="bl" sy="23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"/>
                <a:buNone/>
              </a:pPr>
              <a:r>
                <a:t/>
              </a:r>
              <a:endParaRPr b="1" i="0" sz="2400" u="none" cap="none" strike="noStrik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3"/>
            <p:cNvSpPr txBox="1"/>
            <p:nvPr/>
          </p:nvSpPr>
          <p:spPr>
            <a:xfrm>
              <a:off x="4464844" y="5833269"/>
              <a:ext cx="2024100" cy="27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lt1"/>
                  </a:solidFill>
                </a:rPr>
                <a:t>Anomaly Detection</a:t>
              </a:r>
              <a:endParaRPr/>
            </a:p>
          </p:txBody>
        </p:sp>
      </p:grpSp>
      <p:grpSp>
        <p:nvGrpSpPr>
          <p:cNvPr id="121" name="Google Shape;121;p13"/>
          <p:cNvGrpSpPr/>
          <p:nvPr/>
        </p:nvGrpSpPr>
        <p:grpSpPr>
          <a:xfrm>
            <a:off x="3744912" y="5729287"/>
            <a:ext cx="381000" cy="228600"/>
            <a:chOff x="3745706" y="5806281"/>
            <a:chExt cx="381000" cy="228600"/>
          </a:xfrm>
        </p:grpSpPr>
        <p:sp>
          <p:nvSpPr>
            <p:cNvPr id="122" name="Google Shape;122;p13"/>
            <p:cNvSpPr/>
            <p:nvPr/>
          </p:nvSpPr>
          <p:spPr>
            <a:xfrm>
              <a:off x="3898106" y="5806281"/>
              <a:ext cx="228600" cy="228600"/>
            </a:xfrm>
            <a:prstGeom prst="chevron">
              <a:avLst>
                <a:gd fmla="val 10800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745706" y="5806281"/>
              <a:ext cx="228600" cy="228600"/>
            </a:xfrm>
            <a:prstGeom prst="chevron">
              <a:avLst>
                <a:gd fmla="val 10800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24" name="Google Shape;124;p13"/>
          <p:cNvGrpSpPr/>
          <p:nvPr/>
        </p:nvGrpSpPr>
        <p:grpSpPr>
          <a:xfrm>
            <a:off x="6869112" y="5729287"/>
            <a:ext cx="381000" cy="228600"/>
            <a:chOff x="3745706" y="5806281"/>
            <a:chExt cx="381000" cy="228600"/>
          </a:xfrm>
        </p:grpSpPr>
        <p:sp>
          <p:nvSpPr>
            <p:cNvPr id="125" name="Google Shape;125;p13"/>
            <p:cNvSpPr/>
            <p:nvPr/>
          </p:nvSpPr>
          <p:spPr>
            <a:xfrm>
              <a:off x="3898106" y="5806281"/>
              <a:ext cx="228600" cy="228600"/>
            </a:xfrm>
            <a:prstGeom prst="chevron">
              <a:avLst>
                <a:gd fmla="val 10800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745706" y="5806281"/>
              <a:ext cx="228600" cy="228600"/>
            </a:xfrm>
            <a:prstGeom prst="chevron">
              <a:avLst>
                <a:gd fmla="val 10800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7" name="Google Shape;127;p13"/>
          <p:cNvSpPr txBox="1"/>
          <p:nvPr/>
        </p:nvSpPr>
        <p:spPr>
          <a:xfrm>
            <a:off x="620712" y="9164637"/>
            <a:ext cx="335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•"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Corpus of ~14,800 Vietnamese F&amp;B reviews scraped from 93 venues across Ho Chi Minh City and Hanoi, stratified by city, business type, and star rating tier to ensure domain diversity. 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604037" y="10216875"/>
            <a:ext cx="335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•"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Annotation follows a Teacher-Student strategy: 1,000 gold labels by human experts + 13,486 silver labels by GPT-4.1 mini, with predictions below 0.75 confidence discarded. 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4125912" y="9158287"/>
            <a:ext cx="2895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114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•"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PhoBERT is fine-tuned via a three-step transfer learning chain (base → Wonrax e-commerce checkpoint → ReviewSense F&amp;B corpus), allowing the model to inherit Vietnamese consumer sentiment knowledge before domain adaptation. 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544493" y="8850300"/>
            <a:ext cx="342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4993"/>
              </a:buClr>
              <a:buSzPts val="1400"/>
              <a:buFont typeface="Tahoma"/>
              <a:buNone/>
            </a:pPr>
            <a:r>
              <a:rPr b="1" i="0" lang="en-US" sz="1400" u="none">
                <a:solidFill>
                  <a:srgbClr val="0B4993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1" lang="en-US">
                <a:solidFill>
                  <a:srgbClr val="0B4993"/>
                </a:solidFill>
                <a:latin typeface="Tahoma"/>
                <a:ea typeface="Tahoma"/>
                <a:cs typeface="Tahoma"/>
                <a:sym typeface="Tahoma"/>
              </a:rPr>
              <a:t>. Data collect &amp; Sentiment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4049712" y="8850312"/>
            <a:ext cx="259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4993"/>
              </a:buClr>
              <a:buSzPts val="1400"/>
              <a:buFont typeface="Tahoma"/>
              <a:buNone/>
            </a:pPr>
            <a:r>
              <a:rPr b="1" i="0" lang="en-US" sz="1400" u="none">
                <a:solidFill>
                  <a:srgbClr val="0B4993"/>
                </a:solidFill>
                <a:latin typeface="Tahoma"/>
                <a:ea typeface="Tahoma"/>
                <a:cs typeface="Tahoma"/>
                <a:sym typeface="Tahoma"/>
              </a:rPr>
              <a:t>2.  F</a:t>
            </a:r>
            <a:r>
              <a:rPr b="1" lang="en-US">
                <a:solidFill>
                  <a:srgbClr val="0B4993"/>
                </a:solidFill>
                <a:latin typeface="Tahoma"/>
                <a:ea typeface="Tahoma"/>
                <a:cs typeface="Tahoma"/>
                <a:sym typeface="Tahoma"/>
              </a:rPr>
              <a:t>eature Engineering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4052312" y="10574009"/>
            <a:ext cx="2895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•"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Nine features are fused into a single vector: 6 behavioral (rating, time burst, account age, review length, Local Guide status, star deviation) and 3 PhoBERT-derived semantic features (template language score, sentiment coherence, text similarity). 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7021512" y="8850300"/>
            <a:ext cx="259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4993"/>
              </a:buClr>
              <a:buSzPts val="1400"/>
              <a:buFont typeface="Tahoma"/>
              <a:buNone/>
            </a:pPr>
            <a:r>
              <a:rPr b="1" i="0" lang="en-US" sz="1400" u="none">
                <a:solidFill>
                  <a:srgbClr val="0B4993"/>
                </a:solidFill>
                <a:latin typeface="Tahoma"/>
                <a:ea typeface="Tahoma"/>
                <a:cs typeface="Tahoma"/>
                <a:sym typeface="Tahoma"/>
              </a:rPr>
              <a:t>3.  </a:t>
            </a:r>
            <a:r>
              <a:rPr b="1" lang="en-US">
                <a:solidFill>
                  <a:srgbClr val="0B4993"/>
                </a:solidFill>
                <a:latin typeface="Tahoma"/>
                <a:ea typeface="Tahoma"/>
                <a:cs typeface="Tahoma"/>
                <a:sym typeface="Tahoma"/>
              </a:rPr>
              <a:t>Anomaly Detection</a:t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7097712" y="9121763"/>
            <a:ext cx="3200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•"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Isolation Forest runs fully unsupervised with contamination = 0.1, reflecting the estimated seeding rate in the F&amp;B industry from prior empirical studies. </a:t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5649912" y="3082925"/>
            <a:ext cx="426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87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Google Maps F&amp;B reviews in Vietnam are increasingly manipulated by seeding and boycott campaigns, severely distorting consumer information. </a:t>
            </a:r>
            <a:endParaRPr sz="1200"/>
          </a:p>
        </p:txBody>
      </p:sp>
      <p:sp>
        <p:nvSpPr>
          <p:cNvPr id="136" name="Google Shape;136;p13"/>
          <p:cNvSpPr txBox="1"/>
          <p:nvPr/>
        </p:nvSpPr>
        <p:spPr>
          <a:xfrm>
            <a:off x="5680087" y="4246600"/>
            <a:ext cx="426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87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prior work jointly addresses </a:t>
            </a:r>
            <a:r>
              <a:rPr lang="en-US" sz="1000">
                <a:solidFill>
                  <a:srgbClr val="980000"/>
                </a:solidFill>
                <a:latin typeface="Tahoma"/>
                <a:ea typeface="Tahoma"/>
                <a:cs typeface="Tahoma"/>
                <a:sym typeface="Tahoma"/>
              </a:rPr>
              <a:t>sentiment analysis</a:t>
            </a: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lang="en-US" sz="1000">
                <a:solidFill>
                  <a:srgbClr val="980000"/>
                </a:solidFill>
                <a:latin typeface="Tahoma"/>
                <a:ea typeface="Tahoma"/>
                <a:cs typeface="Tahoma"/>
                <a:sym typeface="Tahoma"/>
              </a:rPr>
              <a:t>fake-review detection</a:t>
            </a: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on Vietnamese F&amp;B data within </a:t>
            </a:r>
            <a:r>
              <a:rPr lang="en-US" sz="1000">
                <a:solidFill>
                  <a:srgbClr val="980000"/>
                </a:solidFill>
                <a:latin typeface="Tahoma"/>
                <a:ea typeface="Tahoma"/>
                <a:cs typeface="Tahoma"/>
                <a:sym typeface="Tahoma"/>
              </a:rPr>
              <a:t>a single framework</a:t>
            </a: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1200"/>
          </a:p>
        </p:txBody>
      </p:sp>
      <p:sp>
        <p:nvSpPr>
          <p:cNvPr id="137" name="Google Shape;137;p13"/>
          <p:cNvSpPr txBox="1"/>
          <p:nvPr/>
        </p:nvSpPr>
        <p:spPr>
          <a:xfrm>
            <a:off x="620712" y="3090862"/>
            <a:ext cx="426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lang="en-US" sz="1200"/>
              <a:t>ReviewSense is an integrated system that perform three-class sentiment analysis and anomaly detection, including:</a:t>
            </a:r>
            <a:endParaRPr sz="1200"/>
          </a:p>
        </p:txBody>
      </p:sp>
      <p:sp>
        <p:nvSpPr>
          <p:cNvPr id="138" name="Google Shape;138;p13"/>
          <p:cNvSpPr txBox="1"/>
          <p:nvPr/>
        </p:nvSpPr>
        <p:spPr>
          <a:xfrm>
            <a:off x="925512" y="3719600"/>
            <a:ext cx="396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87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Proposed a method to detect anomaly in Vietnamese reviews from Google Maps</a:t>
            </a:r>
            <a:endParaRPr sz="1200"/>
          </a:p>
        </p:txBody>
      </p:sp>
      <p:sp>
        <p:nvSpPr>
          <p:cNvPr id="139" name="Google Shape;139;p13"/>
          <p:cNvSpPr txBox="1"/>
          <p:nvPr/>
        </p:nvSpPr>
        <p:spPr>
          <a:xfrm>
            <a:off x="925512" y="4129012"/>
            <a:ext cx="40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87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Finetuned PhoBERT on a domain-specific corpus, with sentiment embedding used for anomaly detection</a:t>
            </a:r>
            <a:endParaRPr sz="1200"/>
          </a:p>
        </p:txBody>
      </p:sp>
      <p:sp>
        <p:nvSpPr>
          <p:cNvPr id="140" name="Google Shape;140;p13"/>
          <p:cNvSpPr txBox="1"/>
          <p:nvPr/>
        </p:nvSpPr>
        <p:spPr>
          <a:xfrm>
            <a:off x="925512" y="4510087"/>
            <a:ext cx="396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87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Deployed as a web app that can analyzes realtime</a:t>
            </a:r>
            <a:endParaRPr sz="1200"/>
          </a:p>
        </p:txBody>
      </p:sp>
      <p:sp>
        <p:nvSpPr>
          <p:cNvPr id="141" name="Google Shape;141;p13"/>
          <p:cNvSpPr txBox="1"/>
          <p:nvPr/>
        </p:nvSpPr>
        <p:spPr>
          <a:xfrm>
            <a:off x="5680087" y="3664550"/>
            <a:ext cx="426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87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Vietnamese poses unique NLP challenges — tonal diacritics, code-switching, and F&amp;B-specific slang — that general-purpose models consistently fail on. </a:t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42" name="Google Shape;14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3100" y="627223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3"/>
          <p:cNvSpPr txBox="1"/>
          <p:nvPr/>
        </p:nvSpPr>
        <p:spPr>
          <a:xfrm>
            <a:off x="1168475" y="6205525"/>
            <a:ext cx="8505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Thư</a:t>
            </a:r>
            <a:endParaRPr sz="9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2"/>
                </a:solidFill>
                <a:latin typeface="Times"/>
                <a:ea typeface="Times"/>
                <a:cs typeface="Times"/>
                <a:sym typeface="Times"/>
              </a:rPr>
              <a:t>2 bài đánh giá</a:t>
            </a:r>
            <a:endParaRPr sz="800">
              <a:solidFill>
                <a:schemeClr val="lt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44" name="Google Shape;14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3650" y="6412012"/>
            <a:ext cx="460375" cy="46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3"/>
          <p:cNvSpPr txBox="1"/>
          <p:nvPr/>
        </p:nvSpPr>
        <p:spPr>
          <a:xfrm>
            <a:off x="2113200" y="6272225"/>
            <a:ext cx="2012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“Ăn ổn, nhân viên thái độ với khách, không gian quán đẹp”</a:t>
            </a:r>
            <a:endParaRPr sz="1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46" name="Google Shape;146;p13"/>
          <p:cNvCxnSpPr/>
          <p:nvPr/>
        </p:nvCxnSpPr>
        <p:spPr>
          <a:xfrm>
            <a:off x="2027125" y="6276725"/>
            <a:ext cx="0" cy="4560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13"/>
          <p:cNvSpPr/>
          <p:nvPr/>
        </p:nvSpPr>
        <p:spPr>
          <a:xfrm>
            <a:off x="2179050" y="6808050"/>
            <a:ext cx="236100" cy="274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551400" y="7427575"/>
            <a:ext cx="1322100" cy="709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544500" y="7474450"/>
            <a:ext cx="14103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{“id”:1, “text”: “Ăn ổn,...”,}</a:t>
            </a:r>
            <a:endParaRPr sz="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{“id”:2, “text”: “dở,...”,</a:t>
            </a:r>
            <a:endParaRPr sz="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{“id”:3, “text”: “ok,...”,</a:t>
            </a:r>
            <a:endParaRPr sz="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50" name="Google Shape;150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22998" y="8040412"/>
            <a:ext cx="307955" cy="30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3"/>
          <p:cNvSpPr/>
          <p:nvPr/>
        </p:nvSpPr>
        <p:spPr>
          <a:xfrm>
            <a:off x="925500" y="6975500"/>
            <a:ext cx="460500" cy="5541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52" name="Google Shape;152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19248" y="69554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34125" y="7537686"/>
            <a:ext cx="307950" cy="3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06150" y="7459663"/>
            <a:ext cx="584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3"/>
          <p:cNvSpPr txBox="1"/>
          <p:nvPr/>
        </p:nvSpPr>
        <p:spPr>
          <a:xfrm>
            <a:off x="2352750" y="8043325"/>
            <a:ext cx="85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PhoBERT base</a:t>
            </a:r>
            <a:endParaRPr sz="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6" name="Google Shape;156;p13"/>
          <p:cNvCxnSpPr>
            <a:stCxn id="149" idx="3"/>
          </p:cNvCxnSpPr>
          <p:nvPr/>
        </p:nvCxnSpPr>
        <p:spPr>
          <a:xfrm flipH="1" rot="10800000">
            <a:off x="1954800" y="7758400"/>
            <a:ext cx="3246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3"/>
          <p:cNvCxnSpPr/>
          <p:nvPr/>
        </p:nvCxnSpPr>
        <p:spPr>
          <a:xfrm flipH="1" rot="10800000">
            <a:off x="3036562" y="7750262"/>
            <a:ext cx="3339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13"/>
          <p:cNvSpPr/>
          <p:nvPr/>
        </p:nvSpPr>
        <p:spPr>
          <a:xfrm flipH="1" rot="10800000">
            <a:off x="4628560" y="7454613"/>
            <a:ext cx="501000" cy="486300"/>
          </a:xfrm>
          <a:prstGeom prst="bentArrow">
            <a:avLst>
              <a:gd fmla="val 25000" name="adj1"/>
              <a:gd fmla="val 22008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9" name="Google Shape;159;p13"/>
          <p:cNvSpPr/>
          <p:nvPr/>
        </p:nvSpPr>
        <p:spPr>
          <a:xfrm rot="10800000">
            <a:off x="6239196" y="7426038"/>
            <a:ext cx="482700" cy="486300"/>
          </a:xfrm>
          <a:prstGeom prst="bentArrow">
            <a:avLst>
              <a:gd fmla="val 25000" name="adj1"/>
              <a:gd fmla="val 22008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60" name="Google Shape;160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56763" y="6139850"/>
            <a:ext cx="307950" cy="3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48150" y="6094169"/>
            <a:ext cx="333900" cy="3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3"/>
          <p:cNvSpPr txBox="1"/>
          <p:nvPr/>
        </p:nvSpPr>
        <p:spPr>
          <a:xfrm>
            <a:off x="5932500" y="6672288"/>
            <a:ext cx="11652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Text Similarity</a:t>
            </a:r>
            <a:endParaRPr sz="9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Sentiment Similarity</a:t>
            </a:r>
            <a:endParaRPr sz="9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63" name="Google Shape;163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04650" y="6732714"/>
            <a:ext cx="184800" cy="1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04650" y="7030689"/>
            <a:ext cx="184800" cy="18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 txBox="1"/>
          <p:nvPr/>
        </p:nvSpPr>
        <p:spPr>
          <a:xfrm>
            <a:off x="4592450" y="6535250"/>
            <a:ext cx="10635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Time burst</a:t>
            </a:r>
            <a:endParaRPr sz="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Local Guide</a:t>
            </a:r>
            <a:endParaRPr sz="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Star differences</a:t>
            </a:r>
            <a:endParaRPr sz="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66" name="Google Shape;166;p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443025" y="7640363"/>
            <a:ext cx="482700" cy="48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460863" y="6830758"/>
            <a:ext cx="184800" cy="1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460875" y="7063265"/>
            <a:ext cx="184800" cy="1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460863" y="6597339"/>
            <a:ext cx="184800" cy="1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640419" y="6456655"/>
            <a:ext cx="1047136" cy="104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65250" y="12250675"/>
            <a:ext cx="460500" cy="4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926600" y="11418625"/>
            <a:ext cx="55410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279400" y="115363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3"/>
          <p:cNvSpPr/>
          <p:nvPr/>
        </p:nvSpPr>
        <p:spPr>
          <a:xfrm>
            <a:off x="2776100" y="11535825"/>
            <a:ext cx="584100" cy="3651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2827500" y="12204075"/>
            <a:ext cx="584100" cy="3651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76" name="Google Shape;176;p13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279400" y="12221025"/>
            <a:ext cx="381000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13"/>
          <p:cNvCxnSpPr>
            <a:stCxn id="172" idx="3"/>
          </p:cNvCxnSpPr>
          <p:nvPr/>
        </p:nvCxnSpPr>
        <p:spPr>
          <a:xfrm>
            <a:off x="1480700" y="11695675"/>
            <a:ext cx="60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13"/>
          <p:cNvCxnSpPr/>
          <p:nvPr/>
        </p:nvCxnSpPr>
        <p:spPr>
          <a:xfrm>
            <a:off x="1571225" y="12472050"/>
            <a:ext cx="52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9" name="Google Shape;179;p13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628550" y="12334802"/>
            <a:ext cx="1569920" cy="1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3"/>
          <p:cNvSpPr txBox="1"/>
          <p:nvPr/>
        </p:nvSpPr>
        <p:spPr>
          <a:xfrm>
            <a:off x="7097712" y="10128088"/>
            <a:ext cx="3200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•"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Two detection variants are compared — A1 (behavioral only) and A2 (behavioral + semantic) — with Jaccard similarity confirming they capture complementary anomaly patterns, A2 catching sophisticated seeding that A1 misses. </a:t>
            </a:r>
            <a:endParaRPr/>
          </a:p>
        </p:txBody>
      </p:sp>
      <p:pic>
        <p:nvPicPr>
          <p:cNvPr id="181" name="Google Shape;181;p13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7718175" y="11091198"/>
            <a:ext cx="1608800" cy="160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3"/>
          <p:cNvSpPr txBox="1"/>
          <p:nvPr/>
        </p:nvSpPr>
        <p:spPr>
          <a:xfrm>
            <a:off x="7879050" y="11741698"/>
            <a:ext cx="38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A1</a:t>
            </a:r>
            <a:endParaRPr sz="1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8838875" y="11741698"/>
            <a:ext cx="38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A2</a:t>
            </a:r>
            <a:endParaRPr sz="1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新しいプレゼンテーション">
  <a:themeElements>
    <a:clrScheme name="新しいプレゼンテーショ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